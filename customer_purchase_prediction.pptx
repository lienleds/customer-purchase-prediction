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5C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822960"/>
            <a:ext cx="11155680" cy="2057400"/>
          </a:xfrm>
          <a:prstGeom prst="roundRect">
            <a:avLst/>
          </a:prstGeom>
          <a:solidFill>
            <a:srgbClr val="F4F8FB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12529"/>
                </a:solidFill>
                <a:latin typeface="Aptos Display"/>
              </a:rPr>
              <a:t>Customer Purchase Prediction
Using Logistic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C6670"/>
                </a:solidFill>
                <a:latin typeface="Aptos"/>
              </a:rPr>
              <a:t>Dataset: Social_Network_Ads.csv  |  Repository: lienleds/customer-purchase-prediction  |  Author: @lienleds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246120"/>
            <a:ext cx="3429000" cy="2286000"/>
          </a:xfrm>
          <a:prstGeom prst="roundRect">
            <a:avLst/>
          </a:prstGeom>
          <a:solidFill>
            <a:srgbClr val="F4F8FB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83279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95CA7"/>
                </a:solidFill>
                <a:latin typeface="Aptos"/>
              </a:rPr>
              <a:t>Training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49039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Binary classification of Purchased (0/1)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Core features: Age and EstimatedSalary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246120"/>
            <a:ext cx="3429000" cy="2286000"/>
          </a:xfrm>
          <a:prstGeom prst="roundRect">
            <a:avLst/>
          </a:prstGeom>
          <a:solidFill>
            <a:srgbClr val="F4F8FB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383279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6A69A"/>
                </a:solidFill>
                <a:latin typeface="Aptos"/>
              </a:rPr>
              <a:t>Why Logistic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749039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Simple, interpretable baseline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Well suited to scaled tabular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246120"/>
            <a:ext cx="3429000" cy="2286000"/>
          </a:xfrm>
          <a:prstGeom prst="roundRect">
            <a:avLst/>
          </a:prstGeom>
          <a:solidFill>
            <a:srgbClr val="F4F8FB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3383279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7C00"/>
                </a:solidFill>
                <a:latin typeface="Aptos"/>
              </a:rPr>
              <a:t>Deliverables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3749039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Python training script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PowerPoint deck and reproducible generator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12529"/>
                </a:solidFill>
                <a:latin typeface="Aptos Display"/>
              </a:rPr>
              <a:t>Requirement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670"/>
                </a:solidFill>
                <a:latin typeface="Aptos"/>
              </a:rPr>
              <a:t>What the exercise asks us to deliver and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49834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Aptos"/>
              </a:defRPr>
            </a:pPr>
            <a:r>
              <a:t>Objective: predict whether a customer purchases a product.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Aptos"/>
              </a:defRPr>
            </a:pPr>
            <a:r>
              <a:t>Dataset: Social_Network_Ads.csv for the training exercise.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Aptos"/>
              </a:defRPr>
            </a:pPr>
            <a:r>
              <a:t>Input features: Age and EstimatedSalary.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Aptos"/>
              </a:defRPr>
            </a:pPr>
            <a:r>
              <a:t>Target label: Purchased, where 0 = no purchase and 1 = purchase.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Aptos"/>
              </a:defRPr>
            </a:pPr>
            <a:r>
              <a:t>Required evaluation: confusion matrix, accuracy, and feature interpretation.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1325880"/>
            <a:ext cx="73152" cy="43434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0" y="1508760"/>
            <a:ext cx="4663440" cy="1280160"/>
          </a:xfrm>
          <a:prstGeom prst="roundRect">
            <a:avLst/>
          </a:prstGeom>
          <a:solidFill>
            <a:srgbClr val="F4F8FB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45919"/>
            <a:ext cx="4297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95CA7"/>
                </a:solidFill>
                <a:latin typeface="Aptos"/>
              </a:rPr>
              <a:t>Expected outputs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343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Model training result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Evaluation summary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Demo-ready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971800"/>
            <a:ext cx="4663440" cy="1280160"/>
          </a:xfrm>
          <a:prstGeom prst="roundRect">
            <a:avLst/>
          </a:prstGeom>
          <a:solidFill>
            <a:srgbClr val="F4F8FB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108960"/>
            <a:ext cx="4297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7C00"/>
                </a:solidFill>
                <a:latin typeface="Aptos"/>
              </a:rPr>
              <a:t>Acceptance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474720"/>
            <a:ext cx="4343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Clear methodology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Reproducible commands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No unsupported metric claims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434840"/>
            <a:ext cx="4663440" cy="1280160"/>
          </a:xfrm>
          <a:prstGeom prst="roundRect">
            <a:avLst/>
          </a:prstGeom>
          <a:solidFill>
            <a:srgbClr val="F4F8FB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572000"/>
            <a:ext cx="4297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6A69A"/>
                </a:solidFill>
                <a:latin typeface="Aptos"/>
              </a:rPr>
              <a:t>Presentation emphasis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937759"/>
            <a:ext cx="4343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Concise bullets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Readable visuals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Professional training style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5C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12529"/>
                </a:solidFill>
                <a:latin typeface="Aptos Display"/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670"/>
                </a:solidFill>
                <a:latin typeface="Aptos"/>
              </a:rPr>
              <a:t>End-to-end workflow used in the repository training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Aptos"/>
              </a:defRPr>
            </a:pPr>
            <a:r>
              <a:t>Explore the CSV, inspect data types, and confirm missing/duplicate status.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Aptos"/>
              </a:defRPr>
            </a:pPr>
            <a:r>
              <a:t>Select Age and EstimatedSalary as predictors and Purchased as the target.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Aptos"/>
              </a:defRPr>
            </a:pPr>
            <a:r>
              <a:t>Split the dataset into 80% training and 20% testing data.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Aptos"/>
              </a:defRPr>
            </a:pPr>
            <a:r>
              <a:t>Normalize input features with StandardScaler.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Aptos"/>
              </a:defRPr>
            </a:pPr>
            <a:r>
              <a:t>Train LogisticRegression on scaled training data.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Aptos"/>
              </a:defRPr>
            </a:pPr>
            <a:r>
              <a:t>Evaluate predictions with accuracy, confusion matrix, and coefficient-based interpretation.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1280160"/>
            <a:ext cx="73152" cy="4480560"/>
          </a:xfrm>
          <a:prstGeom prst="rect">
            <a:avLst/>
          </a:prstGeom>
          <a:solidFill>
            <a:srgbClr val="195C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6520" y="1463040"/>
            <a:ext cx="4754880" cy="1463040"/>
          </a:xfrm>
          <a:prstGeom prst="roundRect">
            <a:avLst/>
          </a:prstGeom>
          <a:solidFill>
            <a:srgbClr val="F4F8FB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60020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6A69A"/>
                </a:solidFill>
                <a:latin typeface="Aptos"/>
              </a:rPr>
              <a:t>Repository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965960"/>
            <a:ext cx="4434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Primary script: customer_purchase_prediction.py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Generator script: create_presentation.py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3154680"/>
            <a:ext cx="4754880" cy="1463040"/>
          </a:xfrm>
          <a:prstGeom prst="roundRect">
            <a:avLst/>
          </a:prstGeom>
          <a:solidFill>
            <a:srgbClr val="F4F8FB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329184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7C00"/>
                </a:solidFill>
                <a:latin typeface="Aptos"/>
              </a:rPr>
              <a:t>Reusable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657600"/>
            <a:ext cx="4434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Small tabular dataset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Interpretable binary classifier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4846320"/>
            <a:ext cx="4754880" cy="868680"/>
          </a:xfrm>
          <a:prstGeom prst="roundRect">
            <a:avLst/>
          </a:prstGeom>
          <a:solidFill>
            <a:srgbClr val="F4F8FB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983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95CA7"/>
                </a:solidFill>
                <a:latin typeface="Aptos"/>
              </a:rPr>
              <a:t>Key caution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5349240"/>
            <a:ext cx="4434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Populate exact performance metrics from the script output if you want final production values.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12529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670"/>
                </a:solidFill>
                <a:latin typeface="Aptos"/>
              </a:rPr>
              <a:t>Data flow from raw CSV to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651760"/>
            <a:ext cx="1097280" cy="914400"/>
          </a:xfrm>
          <a:prstGeom prst="roundRect">
            <a:avLst/>
          </a:prstGeom>
          <a:solidFill>
            <a:srgbClr val="195CA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CSV
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83080" y="2651760"/>
            <a:ext cx="1097280" cy="914400"/>
          </a:xfrm>
          <a:prstGeom prst="roundRect">
            <a:avLst/>
          </a:prstGeom>
          <a:solidFill>
            <a:srgbClr val="26A69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Explore &amp; clean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2651760"/>
            <a:ext cx="1097280" cy="914400"/>
          </a:xfrm>
          <a:prstGeom prst="roundRect">
            <a:avLst/>
          </a:prstGeom>
          <a:solidFill>
            <a:srgbClr val="F57C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Feature
selection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2651760"/>
            <a:ext cx="1097280" cy="914400"/>
          </a:xfrm>
          <a:prstGeom prst="roundRect">
            <a:avLst/>
          </a:prstGeom>
          <a:solidFill>
            <a:srgbClr val="195CA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Train/test
split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651760"/>
            <a:ext cx="1097280" cy="914400"/>
          </a:xfrm>
          <a:prstGeom prst="roundRect">
            <a:avLst/>
          </a:prstGeom>
          <a:solidFill>
            <a:srgbClr val="26A69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Scale with
StandardScaler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651760"/>
            <a:ext cx="1097280" cy="914400"/>
          </a:xfrm>
          <a:prstGeom prst="roundRect">
            <a:avLst/>
          </a:prstGeom>
          <a:solidFill>
            <a:srgbClr val="F57C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Logistic
Regression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2651760"/>
            <a:ext cx="1097280" cy="914400"/>
          </a:xfrm>
          <a:prstGeom prst="roundRect">
            <a:avLst/>
          </a:prstGeom>
          <a:solidFill>
            <a:srgbClr val="195CA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Prediction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52760" y="2651760"/>
            <a:ext cx="1097280" cy="914400"/>
          </a:xfrm>
          <a:prstGeom prst="roundRect">
            <a:avLst/>
          </a:prstGeom>
          <a:solidFill>
            <a:srgbClr val="26A69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Evaluation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08760" y="3108960"/>
            <a:ext cx="274320" cy="0"/>
          </a:xfrm>
          <a:prstGeom prst="line">
            <a:avLst/>
          </a:prstGeom>
          <a:ln w="2540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880360" y="3108960"/>
            <a:ext cx="365760" cy="0"/>
          </a:xfrm>
          <a:prstGeom prst="line">
            <a:avLst/>
          </a:prstGeom>
          <a:ln w="2540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343400" y="3108960"/>
            <a:ext cx="365760" cy="0"/>
          </a:xfrm>
          <a:prstGeom prst="line">
            <a:avLst/>
          </a:prstGeom>
          <a:ln w="2540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06440" y="3108960"/>
            <a:ext cx="502920" cy="0"/>
          </a:xfrm>
          <a:prstGeom prst="line">
            <a:avLst/>
          </a:prstGeom>
          <a:ln w="2540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06640" y="3108960"/>
            <a:ext cx="640080" cy="0"/>
          </a:xfrm>
          <a:prstGeom prst="line">
            <a:avLst/>
          </a:prstGeom>
          <a:ln w="2540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4000" y="3108960"/>
            <a:ext cx="411480" cy="0"/>
          </a:xfrm>
          <a:prstGeom prst="line">
            <a:avLst/>
          </a:prstGeom>
          <a:ln w="2540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652759" y="3108960"/>
            <a:ext cx="1" cy="0"/>
          </a:xfrm>
          <a:prstGeom prst="line">
            <a:avLst/>
          </a:prstGeom>
          <a:ln w="2540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" y="4297680"/>
            <a:ext cx="365760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4348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95CA7"/>
                </a:solidFill>
                <a:latin typeface="Aptos"/>
              </a:rPr>
              <a:t>Inputs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80060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Age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EstimatedSalary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Purchased label for training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4297680"/>
            <a:ext cx="292608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44348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7C00"/>
                </a:solidFill>
                <a:latin typeface="Aptos"/>
              </a:rPr>
              <a:t>Outputs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80060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Predicted class 0/1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Probability estimates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4297680"/>
            <a:ext cx="347472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443484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6A69A"/>
                </a:solidFill>
                <a:latin typeface="Aptos"/>
              </a:rPr>
              <a:t>Verification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4800600"/>
            <a:ext cx="3154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Accuracy score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Confusion matrix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5C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12529"/>
                </a:solidFill>
                <a:latin typeface="Aptos Display"/>
              </a:rPr>
              <a:t>Accuracy, Benchmark, and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670"/>
                </a:solidFill>
                <a:latin typeface="Aptos"/>
              </a:rPr>
              <a:t>Use verified script output for exact runtime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108960" cy="1920240"/>
          </a:xfrm>
          <a:prstGeom prst="roundRect">
            <a:avLst/>
          </a:prstGeom>
          <a:solidFill>
            <a:srgbClr val="F4F8FB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39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95CA7"/>
                </a:solidFill>
                <a:latin typeface="Aptos"/>
              </a:rPr>
              <a:t>Benchmark 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788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Dataset size: 400 records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Split: 80% train / 20% test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Model: sklearn LogisticRegression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325880"/>
            <a:ext cx="3474720" cy="1920240"/>
          </a:xfrm>
          <a:prstGeom prst="roundRect">
            <a:avLst/>
          </a:prstGeom>
          <a:solidFill>
            <a:srgbClr val="F4F8FB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46303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7C00"/>
                </a:solidFill>
                <a:latin typeface="Aptos"/>
              </a:rPr>
              <a:t>Exact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828800"/>
            <a:ext cx="31546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Accuracy: &lt;run script to fill&gt;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Training time: &lt;measure during run&gt;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Prediction latency: &lt;measure during run&gt;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25880"/>
            <a:ext cx="3474720" cy="1920240"/>
          </a:xfrm>
          <a:prstGeom prst="roundRect">
            <a:avLst/>
          </a:prstGeom>
          <a:solidFill>
            <a:srgbClr val="F4F8FB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46303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6A69A"/>
                </a:solidFill>
                <a:latin typeface="Aptos"/>
              </a:rPr>
              <a:t>How to obtain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828800"/>
            <a:ext cx="31546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Run: python create_presentation.py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Run: python customer_purchase_prediction.py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Copy verified results into final deck if needed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57600"/>
            <a:ext cx="5120640" cy="1645920"/>
          </a:xfrm>
          <a:prstGeom prst="roundRect">
            <a:avLst/>
          </a:prstGeom>
          <a:solidFill>
            <a:srgbClr val="F4F8FB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94760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95CA7"/>
                </a:solidFill>
                <a:latin typeface="Aptos"/>
              </a:rPr>
              <a:t>Confusion matrix definitions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60520"/>
            <a:ext cx="4800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TP: predicted purchase and actual purchase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TN: predicted no purchase and actual no purchase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FP: predicted purchase but actual no purchase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FN: predicted no purchase but actual purchase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657600"/>
            <a:ext cx="5303520" cy="1645920"/>
          </a:xfrm>
          <a:prstGeom prst="roundRect">
            <a:avLst/>
          </a:prstGeom>
          <a:solidFill>
            <a:srgbClr val="F4F8FB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794760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7C00"/>
                </a:solidFill>
                <a:latin typeface="Aptos"/>
              </a:rPr>
              <a:t>Reporting guidance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160520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Do not guess exact scores.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If execution is unavailable, keep placeholders and mention the command used to produce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12529"/>
                </a:solidFill>
                <a:latin typeface="Aptos Display"/>
              </a:rPr>
              <a:t>Conclusion and Demo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670"/>
                </a:solidFill>
                <a:latin typeface="Aptos"/>
              </a:rPr>
              <a:t>What to emphasize during the training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Aptos"/>
              </a:defRPr>
            </a:pPr>
            <a:r>
              <a:t>Logistic Regression provides a clear baseline for customer purchase prediction.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Aptos"/>
              </a:defRPr>
            </a:pPr>
            <a:r>
              <a:t>Age and EstimatedSalary influence the decision boundary after scaling.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Aptos"/>
              </a:defRPr>
            </a:pPr>
            <a:r>
              <a:t>The workflow is reproducible and suitable for a short AI Foundation demo.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Aptos"/>
              </a:defRPr>
            </a:pPr>
            <a:r>
              <a:t>Show the script run, generated analysis output, and this presentation in the video demo.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Aptos"/>
              </a:defRPr>
            </a:pPr>
            <a:r>
              <a:t>Use the final slide to explain how confusion matrix results support the accuracy claim.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1280160"/>
            <a:ext cx="73152" cy="448056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0" y="1600200"/>
            <a:ext cx="4572000" cy="1371600"/>
          </a:xfrm>
          <a:prstGeom prst="roundRect">
            <a:avLst/>
          </a:prstGeom>
          <a:solidFill>
            <a:srgbClr val="F4F8FB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737360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95CA7"/>
                </a:solidFill>
                <a:latin typeface="Aptos"/>
              </a:rPr>
              <a:t>Commands to show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03120"/>
            <a:ext cx="4251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python -m pip install -r requirements.txt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python create_presentation.py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python customer_purchase_prediction.py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337560"/>
            <a:ext cx="4572000" cy="1188720"/>
          </a:xfrm>
          <a:prstGeom prst="roundRect">
            <a:avLst/>
          </a:prstGeom>
          <a:solidFill>
            <a:srgbClr val="F4F8FB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3474720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7C00"/>
                </a:solidFill>
                <a:latin typeface="Aptos"/>
              </a:rPr>
              <a:t>Files to highlight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840480"/>
            <a:ext cx="4251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customer_purchase_prediction.py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create_presentation.py</a:t>
            </a:r>
          </a:p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customer_purchase_prediction.pptx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4892040"/>
            <a:ext cx="4572000" cy="822960"/>
          </a:xfrm>
          <a:prstGeom prst="roundRect">
            <a:avLst/>
          </a:prstGeom>
          <a:solidFill>
            <a:srgbClr val="F4F8FB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5029200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6A69A"/>
                </a:solidFill>
                <a:latin typeface="Aptos"/>
              </a:rPr>
              <a:t>Demo 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5394959"/>
            <a:ext cx="4251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529"/>
                </a:solidFill>
                <a:latin typeface="Aptos"/>
              </a:defRPr>
            </a:pPr>
            <a:r>
              <a:t>Open the PPTX after generation and replace placeholders only with verified script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